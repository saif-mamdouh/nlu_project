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74" d="100"/>
          <a:sy n="174" d="100"/>
        </p:scale>
        <p:origin x="101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237E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1A237E"/>
                </a:solidFill>
                <a:latin typeface="Arial"/>
              </a:rPr>
              <a:t>Performance Comparison (%) — Real Results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 Model (Zero-shot)</c:v>
                </c:pt>
              </c:strCache>
            </c:strRef>
          </c:tx>
          <c:spPr>
            <a:solidFill>
              <a:srgbClr val="90A4A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A237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Accuracy</c:v>
                </c:pt>
                <c:pt idx="1">
                  <c:v>F1-Score (Macro)</c:v>
                </c:pt>
                <c:pt idx="2">
                  <c:v>JSON Validity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</c:v>
                </c:pt>
                <c:pt idx="1">
                  <c:v>10</c:v>
                </c:pt>
                <c:pt idx="2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47F-4C94-AA0B-689D0F113B1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LoRA Fine-Tuned</c:v>
                </c:pt>
              </c:strCache>
            </c:strRef>
          </c:tx>
          <c:spPr>
            <a:solidFill>
              <a:srgbClr val="00897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A237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Accuracy</c:v>
                </c:pt>
                <c:pt idx="1">
                  <c:v>F1-Score (Macro)</c:v>
                </c:pt>
                <c:pt idx="2">
                  <c:v>JSON Validity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76</c:v>
                </c:pt>
                <c:pt idx="1">
                  <c:v>64</c:v>
                </c:pt>
                <c:pt idx="2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47F-4C94-AA0B-689D0F113B1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0E6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785041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3" Type="http://schemas.openxmlformats.org/officeDocument/2006/relationships/hyperlink" Target="https://github.com/Tribleave/SCAPT-ABSA/tree/master/data/laptops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Tribleave/SCAPT-ABSA/tree/master/data/restaurants" TargetMode="Externa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?>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?>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3" name="Shape 1"/>
          <p:cNvSpPr/>
          <p:nvPr/>
        </p:nvSpPr>
        <p:spPr>
          <a:xfrm>
            <a:off x="7498080" y="-731520"/>
            <a:ext cx="2743200" cy="2743200"/>
          </a:xfrm>
          <a:prstGeom prst="ellipse">
            <a:avLst/>
          </a:prstGeom>
          <a:solidFill>
            <a:srgbClr val="1A237E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046720" y="-182880"/>
            <a:ext cx="1828800" cy="1828800"/>
          </a:xfrm>
          <a:prstGeom prst="ellipse">
            <a:avLst/>
          </a:prstGeom>
          <a:solidFill>
            <a:srgbClr val="00897B">
              <a:alpha val="4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731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4DB6AC"/>
                </a:solidFill>
              </a:rPr>
              <a:t>COURSE PROJECT  |  LLM FINE-TUNING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7772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Opinion Mining</a:t>
            </a:r>
            <a:endParaRPr lang="en-US" sz="4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Customer Reviews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57200" y="329184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90A4AE"/>
                </a:solidFill>
              </a:rPr>
              <a:t>Extracting Sentiment &amp; Product Features using</a:t>
            </a:r>
            <a:endParaRPr lang="en-US" sz="1600" dirty="0"/>
          </a:p>
          <a:p>
            <a:pPr marL="0" indent="0">
              <a:buNone/>
            </a:pPr>
            <a:r>
              <a:rPr lang="en-US" sz="1600" i="1" dirty="0">
                <a:solidFill>
                  <a:srgbClr val="90A4AE"/>
                </a:solidFill>
              </a:rPr>
              <a:t>LoRA Fine-Tuned Large Language Models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0897B">
              <a:alpha val="3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4828032"/>
            <a:ext cx="8595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DB6AC"/>
                </a:solidFill>
              </a:rPr>
              <a:t>Sentiment Analysis  ·  Aspect Extraction  ·  LoRA Fine-Tuning  ·  Structured Output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897B"/>
                </a:solidFill>
              </a:rPr>
              <a:t>01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097280" y="73152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4DB6AC"/>
                </a:solidFill>
              </a:rPr>
              <a:t>PROJECT IDEA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7280" y="47548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What problem are we solving?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530352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1430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</a:rPr>
              <a:t>Task Description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508760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46E7A"/>
                </a:solidFill>
              </a:rPr>
              <a:t xml:space="preserve">Fine-tune an LLM to perform </a:t>
            </a:r>
            <a:r>
              <a:rPr lang="en-US" sz="1200" b="1" dirty="0">
                <a:solidFill>
                  <a:srgbClr val="00897B"/>
                </a:solidFill>
              </a:rPr>
              <a:t>aspect-based sentiment analysis</a:t>
            </a:r>
            <a:r>
              <a:rPr lang="en-US" sz="1200" dirty="0">
                <a:solidFill>
                  <a:srgbClr val="546E7A"/>
                </a:solidFill>
              </a:rPr>
              <a:t xml:space="preserve"> on e-commerce product reviews — automatically identifying product features and their associated sentiments.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3017520"/>
            <a:ext cx="246888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31089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37E"/>
                </a:solidFill>
              </a:rPr>
              <a:t>📥  INPUT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47472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46E7A"/>
                </a:solidFill>
              </a:rPr>
              <a:t>Raw customer review text from e-commerce platforms (Amazon, Yelp, etc.)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880360" y="3017520"/>
            <a:ext cx="269748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063240" y="31089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37E"/>
                </a:solidFill>
              </a:rPr>
              <a:t>📤  OUTPUT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063240" y="3456432"/>
            <a:ext cx="233172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46E7A"/>
                </a:solidFill>
              </a:rPr>
              <a:t>• Aspect terms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46E7A"/>
                </a:solidFill>
              </a:rPr>
              <a:t>• Sentiment polarity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46E7A"/>
                </a:solidFill>
              </a:rPr>
              <a:t xml:space="preserve">  (Positive / Negative / Neutral)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46E7A"/>
                </a:solidFill>
              </a:rPr>
              <a:t>• Structured JSON output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760720" y="1051560"/>
            <a:ext cx="3108960" cy="3749040"/>
          </a:xfrm>
          <a:prstGeom prst="rect">
            <a:avLst/>
          </a:prstGeom>
          <a:solidFill>
            <a:srgbClr val="1A237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897880" y="117043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4DB6AC"/>
                </a:solidFill>
              </a:rPr>
              <a:t>WHY IT MATTERS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897880" y="16002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B300"/>
                </a:solidFill>
              </a:rPr>
              <a:t>$12B+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897880" y="192024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0A4AE"/>
                </a:solidFill>
              </a:rPr>
              <a:t>annual value of actionable product insights for e-commerce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897880" y="240487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B300"/>
                </a:solidFill>
              </a:rPr>
              <a:t>93%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897880" y="272491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0A4AE"/>
                </a:solidFill>
              </a:rPr>
              <a:t>of consumers say reviews impact buying decisions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897880" y="3209544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B300"/>
                </a:solidFill>
              </a:rPr>
              <a:t>Manual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897880" y="3529584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0A4AE"/>
                </a:solidFill>
              </a:rPr>
              <a:t>analysis cannot scale to millions of daily reviews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897880" y="4014216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B300"/>
                </a:solidFill>
              </a:rPr>
              <a:t>LLMs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897880" y="433425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0A4AE"/>
                </a:solidFill>
              </a:rPr>
              <a:t>enable nuanced, context-aware opinion understanding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897B"/>
                </a:solidFill>
              </a:rPr>
              <a:t>02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097280" y="73152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4DB6AC"/>
                </a:solidFill>
              </a:rPr>
              <a:t>DATASET INFORMATION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7280" y="47548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SemEval-2014 Task 4 — Laptop &amp; Restaurant Reviews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1920240" cy="1234440"/>
          </a:xfrm>
          <a:prstGeom prst="rect">
            <a:avLst/>
          </a:prstGeom>
          <a:solidFill>
            <a:srgbClr val="1A237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115568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B300"/>
                </a:solidFill>
              </a:rPr>
              <a:t>6,000+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65760" y="16916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A4AE"/>
                </a:solidFill>
              </a:rPr>
              <a:t>Annotated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0A4AE"/>
                </a:solidFill>
              </a:rPr>
              <a:t>Reviews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50592" y="1051560"/>
            <a:ext cx="1920240" cy="1234440"/>
          </a:xfrm>
          <a:prstGeom prst="rect">
            <a:avLst/>
          </a:prstGeom>
          <a:solidFill>
            <a:srgbClr val="1A237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542032" y="1115568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B300"/>
                </a:solidFill>
              </a:rPr>
              <a:t>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542032" y="16916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A4AE"/>
                </a:solidFill>
              </a:rPr>
              <a:t>Domains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0A4AE"/>
                </a:solidFill>
              </a:rPr>
              <a:t>(Laptop / Food)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26864" y="1051560"/>
            <a:ext cx="1920240" cy="1234440"/>
          </a:xfrm>
          <a:prstGeom prst="rect">
            <a:avLst/>
          </a:prstGeom>
          <a:solidFill>
            <a:srgbClr val="1A237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18304" y="1115568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B300"/>
                </a:solidFill>
              </a:rPr>
              <a:t>4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718304" y="16916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A4AE"/>
                </a:solidFill>
              </a:rPr>
              <a:t>Sentiment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0A4AE"/>
                </a:solidFill>
              </a:rPr>
              <a:t>Classes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03136" y="1051560"/>
            <a:ext cx="1920240" cy="1234440"/>
          </a:xfrm>
          <a:prstGeom prst="rect">
            <a:avLst/>
          </a:prstGeom>
          <a:solidFill>
            <a:srgbClr val="1A237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894576" y="1115568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B300"/>
                </a:solidFill>
              </a:rPr>
              <a:t>~3,600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894576" y="16916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A4AE"/>
                </a:solidFill>
              </a:rPr>
              <a:t>Aspect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0A4AE"/>
                </a:solidFill>
              </a:rPr>
              <a:t>Annotations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2423160"/>
            <a:ext cx="5074920" cy="2196446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57200" y="251460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</a:rPr>
              <a:t>Dataset Structure</a:t>
            </a:r>
            <a:endParaRPr lang="en-US" sz="13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4231102"/>
              </p:ext>
            </p:extLst>
          </p:nvPr>
        </p:nvGraphicFramePr>
        <p:xfrm>
          <a:off x="411480" y="2880360"/>
          <a:ext cx="4937760" cy="1739246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083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Field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083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46E7A"/>
                          </a:solidFill>
                        </a:rPr>
                        <a:t>review_text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46E7A"/>
                          </a:solidFill>
                        </a:rPr>
                        <a:t>string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46E7A"/>
                          </a:solidFill>
                        </a:rPr>
                        <a:t>Raw review sentence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083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46E7A"/>
                          </a:solidFill>
                        </a:rPr>
                        <a:t>aspect_term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46E7A"/>
                          </a:solidFill>
                        </a:rPr>
                        <a:t>string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46E7A"/>
                          </a:solidFill>
                        </a:rPr>
                        <a:t>Extracted feature word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96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46E7A"/>
                          </a:solidFill>
                        </a:rPr>
                        <a:t>sentiment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46E7A"/>
                          </a:solidFill>
                        </a:rPr>
                        <a:t>string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46E7A"/>
                          </a:solidFill>
                        </a:rPr>
                        <a:t>Positive / Negative / Neutral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96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46E7A"/>
                          </a:solidFill>
                        </a:rPr>
                        <a:t>category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46E7A"/>
                          </a:solidFill>
                        </a:rPr>
                        <a:t>string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46E7A"/>
                          </a:solidFill>
                        </a:rPr>
                        <a:t>Feature category (e.g. 'food')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083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46E7A"/>
                          </a:solidFill>
                        </a:rPr>
                        <a:t>domain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46E7A"/>
                          </a:solidFill>
                        </a:rPr>
                        <a:t>string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46E7A"/>
                          </a:solidFill>
                        </a:rPr>
                        <a:t>Laptop or Restaurant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1" name="Shape 18"/>
          <p:cNvSpPr/>
          <p:nvPr/>
        </p:nvSpPr>
        <p:spPr>
          <a:xfrm>
            <a:off x="5532120" y="2423160"/>
            <a:ext cx="3337560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5715000" y="251460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</a:rPr>
              <a:t>Preprocessing Steps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5715000" y="289864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</a:rPr>
              <a:t>✦  Convert XML annotations to JSONL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5715000" y="320954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</a:rPr>
              <a:t>✦  Tokenize with model tokenizer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5715000" y="35204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</a:rPr>
              <a:t>✦  Format as instruction-response pairs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5715000" y="383133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</a:rPr>
              <a:t>✦  80 / 10 / 10 train / val / test split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5715000" y="414223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</a:rPr>
              <a:t>✦  Class balance verification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5715000" y="44531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</a:rPr>
              <a:t>✦  Max sequence length: 512 tokens</a:t>
            </a:r>
            <a:endParaRPr lang="en-US" sz="100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8AC1E51-8527-4517-904F-AD68218AED24}"/>
              </a:ext>
            </a:extLst>
          </p:cNvPr>
          <p:cNvSpPr/>
          <p:nvPr/>
        </p:nvSpPr>
        <p:spPr>
          <a:xfrm>
            <a:off x="274320" y="4706874"/>
            <a:ext cx="5074920" cy="27889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900" dirty="0">
                <a:solidFill>
                  <a:schemeClr val="tx1"/>
                </a:solidFill>
              </a:rPr>
              <a:t xml:space="preserve">Source: </a:t>
            </a:r>
            <a:r>
              <a:rPr lang="en-US" sz="900" dirty="0">
                <a:solidFill>
                  <a:schemeClr val="tx1"/>
                </a:solidFill>
                <a:hlinkClick r:id="rId3"/>
              </a:rPr>
              <a:t>https://github.com/Tribleave/SCAPT-ABSA/tree/master/data/laptops</a:t>
            </a:r>
            <a:br>
              <a:rPr lang="en-US" sz="900" dirty="0">
                <a:solidFill>
                  <a:schemeClr val="tx1"/>
                </a:solidFill>
              </a:rPr>
            </a:br>
            <a:r>
              <a:rPr lang="en-US" sz="900" dirty="0">
                <a:solidFill>
                  <a:schemeClr val="tx1"/>
                </a:solidFill>
              </a:rPr>
              <a:t xml:space="preserve">               </a:t>
            </a:r>
            <a:r>
              <a:rPr lang="en-US" sz="900" dirty="0">
                <a:solidFill>
                  <a:schemeClr val="tx1"/>
                </a:solidFill>
                <a:hlinkClick r:id="rId4"/>
              </a:rPr>
              <a:t>https://github.com/Tribleave/SCAPT-ABSA/tree/master/data/restaurants</a:t>
            </a:r>
            <a:endParaRPr lang="en-US" sz="9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897B"/>
                </a:solidFill>
              </a:rPr>
              <a:t>03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097280" y="73152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4DB6AC"/>
                </a:solidFill>
              </a:rPr>
              <a:t>BASE MODEL INFORMATION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7280" y="47548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LLaMA-3.2-3B — Meta's Open-Source Language Model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3108960" cy="3749040"/>
          </a:xfrm>
          <a:prstGeom prst="rect">
            <a:avLst/>
          </a:prstGeom>
          <a:solidFill>
            <a:srgbClr val="1A237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1704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4DB6AC"/>
                </a:solidFill>
              </a:rPr>
              <a:t>MODEL CARD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536192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LLaMA-3.2-3B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20299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A4AE"/>
                </a:solidFill>
              </a:rPr>
              <a:t>by Meta AI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4505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A4AE"/>
                </a:solidFill>
              </a:rPr>
              <a:t>Parameters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7200" y="26517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3.2 Billion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288036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A4AE"/>
                </a:solidFill>
              </a:rPr>
              <a:t>Architecture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" y="30815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Transformer Decoder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331012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A4AE"/>
                </a:solidFill>
              </a:rPr>
              <a:t>Context Length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57200" y="351129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128K tokens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373989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A4AE"/>
                </a:solidFill>
              </a:rPr>
              <a:t>Training Data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57200" y="394106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~9 Trillion tokens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416966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A4AE"/>
                </a:solidFill>
              </a:rPr>
              <a:t>License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57200" y="437083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Llama 3.2 Community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566160" y="1051560"/>
            <a:ext cx="530352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749040" y="11430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</a:rPr>
              <a:t>Architecture Overview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749040" y="1554480"/>
            <a:ext cx="54864" cy="201168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23" name="Text 21"/>
          <p:cNvSpPr/>
          <p:nvPr/>
        </p:nvSpPr>
        <p:spPr>
          <a:xfrm>
            <a:off x="3886200" y="1554480"/>
            <a:ext cx="2286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37E"/>
                </a:solidFill>
              </a:rPr>
              <a:t>Grouped Query Attention (GQA)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199632" y="1554480"/>
            <a:ext cx="2468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</a:rPr>
              <a:t>Memory-efficient multi-head attention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749040" y="1828800"/>
            <a:ext cx="54864" cy="201168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26" name="Text 24"/>
          <p:cNvSpPr/>
          <p:nvPr/>
        </p:nvSpPr>
        <p:spPr>
          <a:xfrm>
            <a:off x="3886200" y="1828800"/>
            <a:ext cx="2286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37E"/>
                </a:solidFill>
              </a:rPr>
              <a:t>RoPE Positional Embeddings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199632" y="1828800"/>
            <a:ext cx="2468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</a:rPr>
              <a:t>Rotary position encoding for long context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749040" y="2103120"/>
            <a:ext cx="54864" cy="201168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29" name="Text 27"/>
          <p:cNvSpPr/>
          <p:nvPr/>
        </p:nvSpPr>
        <p:spPr>
          <a:xfrm>
            <a:off x="3886200" y="2103120"/>
            <a:ext cx="2286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37E"/>
                </a:solidFill>
              </a:rPr>
              <a:t>SwiGLU Activation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199632" y="2103120"/>
            <a:ext cx="2468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</a:rPr>
              <a:t>Improved FFN gating function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749040" y="2377440"/>
            <a:ext cx="54864" cy="201168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32" name="Text 30"/>
          <p:cNvSpPr/>
          <p:nvPr/>
        </p:nvSpPr>
        <p:spPr>
          <a:xfrm>
            <a:off x="3886200" y="2377440"/>
            <a:ext cx="2286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37E"/>
                </a:solidFill>
              </a:rPr>
              <a:t>RMS Normalization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199632" y="2377440"/>
            <a:ext cx="2468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</a:rPr>
              <a:t>Stable training without mean subtraction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566160" y="2834640"/>
            <a:ext cx="5303520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3749040" y="29260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</a:rPr>
              <a:t>Why LLaMA-3.2-3B?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3749040" y="33375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⚡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4114800" y="336499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37E"/>
                </a:solidFill>
              </a:rPr>
              <a:t xml:space="preserve">Efficient size: 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321808" y="336499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</a:rPr>
              <a:t>Trainable on consumer/academic GPUs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3749040" y="37033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🔓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4114800" y="373075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37E"/>
                </a:solidFill>
              </a:rPr>
              <a:t xml:space="preserve">Fully open weights: 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5321808" y="373075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</a:rPr>
              <a:t>No API dependency; full fine-tuning control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3749040" y="40690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🏆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4114800" y="409651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37E"/>
                </a:solidFill>
              </a:rPr>
              <a:t xml:space="preserve">Strong baseline: 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5321808" y="409651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</a:rPr>
              <a:t>State-of-the-art 3B-class performance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3749040" y="44348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🔧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4114800" y="446227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37E"/>
                </a:solidFill>
              </a:rPr>
              <a:t xml:space="preserve">LoRA-ready: 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5321808" y="446227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</a:rPr>
              <a:t>Compatible with HuggingFace PEFT library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897B"/>
                </a:solidFill>
              </a:rPr>
              <a:t>04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097280" y="73152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4DB6AC"/>
                </a:solidFill>
              </a:rPr>
              <a:t>FINE-TUNING WITH LoRA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7280" y="47548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Low-Rank Adaptation — Efficient Parameter Fine-Tuning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374904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1430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</a:rPr>
              <a:t>What is LoRA?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554480"/>
            <a:ext cx="33832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546E7A"/>
                </a:solidFill>
              </a:rPr>
              <a:t>LoRA (Low-Rank Adaptation) freezes the pre-trained model weights and injects small trainable rank-decomposition matrices into each Transformer layer.</a:t>
            </a:r>
            <a:endParaRPr lang="en-US" sz="1100" dirty="0"/>
          </a:p>
          <a:p>
            <a:pPr marL="0" indent="0">
              <a:lnSpc>
                <a:spcPct val="145000"/>
              </a:lnSpc>
              <a:buNone/>
            </a:pPr>
            <a:endParaRPr lang="en-US" sz="110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546E7A"/>
                </a:solidFill>
              </a:rPr>
              <a:t>Instead of updating W (d×d), it learns:</a:t>
            </a:r>
            <a:endParaRPr lang="en-US" sz="1100" dirty="0"/>
          </a:p>
          <a:p>
            <a:pPr marL="0" indent="0">
              <a:lnSpc>
                <a:spcPct val="145000"/>
              </a:lnSpc>
              <a:buNone/>
            </a:pPr>
            <a:endParaRPr lang="en-US" sz="110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546E7A"/>
                </a:solidFill>
              </a:rPr>
              <a:t xml:space="preserve">    ΔW = B × A</a:t>
            </a:r>
            <a:endParaRPr lang="en-US" sz="1100" dirty="0"/>
          </a:p>
          <a:p>
            <a:pPr marL="0" indent="0">
              <a:lnSpc>
                <a:spcPct val="145000"/>
              </a:lnSpc>
              <a:buNone/>
            </a:pPr>
            <a:endParaRPr lang="en-US" sz="110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546E7A"/>
                </a:solidFill>
              </a:rPr>
              <a:t>where A is (r×d) and B is (d×r), with r &lt;&lt; d.</a:t>
            </a:r>
            <a:endParaRPr lang="en-US" sz="1100" dirty="0"/>
          </a:p>
          <a:p>
            <a:pPr marL="0" indent="0">
              <a:lnSpc>
                <a:spcPct val="145000"/>
              </a:lnSpc>
              <a:buNone/>
            </a:pPr>
            <a:endParaRPr lang="en-US" sz="110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546E7A"/>
                </a:solidFill>
              </a:rPr>
              <a:t>This reduces trainable parameters by ~99% while preserving model quality.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06240" y="1051560"/>
            <a:ext cx="466344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389120" y="114300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</a:rPr>
              <a:t>How LoRA Works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434840" y="1600200"/>
            <a:ext cx="2011680" cy="1188720"/>
          </a:xfrm>
          <a:prstGeom prst="rect">
            <a:avLst/>
          </a:prstGeom>
          <a:solidFill>
            <a:srgbClr val="1A237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434840" y="160020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Frozen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Pre-trained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Weights  W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720840" y="1600200"/>
            <a:ext cx="914400" cy="50292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14" name="Text 12"/>
          <p:cNvSpPr/>
          <p:nvPr/>
        </p:nvSpPr>
        <p:spPr>
          <a:xfrm>
            <a:off x="6720840" y="160020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  (r×d)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720840" y="2240280"/>
            <a:ext cx="914400" cy="502920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16" name="Text 14"/>
          <p:cNvSpPr/>
          <p:nvPr/>
        </p:nvSpPr>
        <p:spPr>
          <a:xfrm>
            <a:off x="6720840" y="224028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B  (d×r)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818120" y="1783080"/>
            <a:ext cx="822960" cy="822960"/>
          </a:xfrm>
          <a:prstGeom prst="rect">
            <a:avLst/>
          </a:prstGeom>
          <a:solidFill>
            <a:srgbClr val="2E7D32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818120" y="17830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ΔW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=B×A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720840" y="28346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897B"/>
                </a:solidFill>
              </a:rPr>
              <a:t>Trainable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389120" y="29260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46E7A"/>
                </a:solidFill>
              </a:rPr>
              <a:t>Output = Wx + ΔWx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206240" y="3520440"/>
            <a:ext cx="466344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89120" y="361188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</a:rPr>
              <a:t>Our LoRA Configuration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251960" y="3986784"/>
            <a:ext cx="4526280" cy="228600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24" name="Text 22"/>
          <p:cNvSpPr/>
          <p:nvPr/>
        </p:nvSpPr>
        <p:spPr>
          <a:xfrm>
            <a:off x="4343400" y="3995928"/>
            <a:ext cx="2103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</a:rPr>
              <a:t>Rank (r)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492240" y="3995928"/>
            <a:ext cx="2194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37E"/>
                </a:solidFill>
              </a:rPr>
              <a:t>16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251960" y="4224528"/>
            <a:ext cx="4526280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4343400" y="4233672"/>
            <a:ext cx="2103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</a:rPr>
              <a:t>Alpha (α)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492240" y="4233672"/>
            <a:ext cx="2194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37E"/>
                </a:solidFill>
              </a:rPr>
              <a:t>32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251960" y="4462272"/>
            <a:ext cx="4526280" cy="228600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30" name="Text 28"/>
          <p:cNvSpPr/>
          <p:nvPr/>
        </p:nvSpPr>
        <p:spPr>
          <a:xfrm>
            <a:off x="4343400" y="4471416"/>
            <a:ext cx="2103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</a:rPr>
              <a:t>Dropout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492240" y="4471416"/>
            <a:ext cx="2194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37E"/>
                </a:solidFill>
              </a:rPr>
              <a:t>0.05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251960" y="4700016"/>
            <a:ext cx="4526280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4343400" y="4709160"/>
            <a:ext cx="2103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</a:rPr>
              <a:t>Target Modules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492240" y="4709160"/>
            <a:ext cx="2194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37E"/>
                </a:solidFill>
              </a:rPr>
              <a:t>q_proj, v_proj, k_proj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251960" y="4937760"/>
            <a:ext cx="4526280" cy="228600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36" name="Text 34"/>
          <p:cNvSpPr/>
          <p:nvPr/>
        </p:nvSpPr>
        <p:spPr>
          <a:xfrm>
            <a:off x="4343400" y="4946904"/>
            <a:ext cx="2103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</a:rPr>
              <a:t>Trainable Params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492240" y="4946904"/>
            <a:ext cx="2194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37E"/>
                </a:solidFill>
              </a:rPr>
              <a:t>~4M / 3.2B  (0.13%)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897B"/>
                </a:solidFill>
              </a:rPr>
              <a:t>05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097280" y="73152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4DB6AC"/>
                </a:solidFill>
              </a:rPr>
              <a:t>EVALUATION METHODS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7280" y="47548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Measuring model performance before and after fine-tuning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416052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16152"/>
            <a:ext cx="594360" cy="594360"/>
          </a:xfrm>
          <a:prstGeom prst="ellipse">
            <a:avLst/>
          </a:prstGeom>
          <a:solidFill>
            <a:srgbClr val="1A237E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234440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88720" y="125272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37E"/>
                </a:solidFill>
              </a:rPr>
              <a:t>Accuracy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188720" y="1600200"/>
            <a:ext cx="1371600" cy="219456"/>
          </a:xfrm>
          <a:prstGeom prst="rect">
            <a:avLst/>
          </a:prstGeom>
          <a:solidFill>
            <a:srgbClr val="00897B">
              <a:alpha val="2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160934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897B"/>
                </a:solidFill>
              </a:rPr>
              <a:t>TP + TN / Total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57200" y="1965960"/>
            <a:ext cx="3794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46E7A"/>
                </a:solidFill>
              </a:rPr>
              <a:t>Overall % of correctly classified sentiment labels across all review-aspect pairs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709160" y="1051560"/>
            <a:ext cx="416052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92040" y="1216152"/>
            <a:ext cx="594360" cy="594360"/>
          </a:xfrm>
          <a:prstGeom prst="ellipse">
            <a:avLst/>
          </a:prstGeom>
          <a:solidFill>
            <a:srgbClr val="1A237E"/>
          </a:solidFill>
          <a:ln/>
        </p:spPr>
      </p:sp>
      <p:sp>
        <p:nvSpPr>
          <p:cNvPr id="15" name="Text 13"/>
          <p:cNvSpPr/>
          <p:nvPr/>
        </p:nvSpPr>
        <p:spPr>
          <a:xfrm>
            <a:off x="4892040" y="1234440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</a:rPr>
              <a:t>⚖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623560" y="125272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37E"/>
                </a:solidFill>
              </a:rPr>
              <a:t>F1-Score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623560" y="1600200"/>
            <a:ext cx="1371600" cy="219456"/>
          </a:xfrm>
          <a:prstGeom prst="rect">
            <a:avLst/>
          </a:prstGeom>
          <a:solidFill>
            <a:srgbClr val="00897B">
              <a:alpha val="2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5623560" y="160934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897B"/>
                </a:solidFill>
              </a:rPr>
              <a:t>2 × (P × R) / (P + R)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892040" y="1965960"/>
            <a:ext cx="3794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46E7A"/>
                </a:solidFill>
              </a:rPr>
              <a:t>Harmonic mean of Precision &amp; Recall — critical for imbalanced sentiment classes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" y="2880360"/>
            <a:ext cx="416052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044952"/>
            <a:ext cx="594360" cy="594360"/>
          </a:xfrm>
          <a:prstGeom prst="ellipse">
            <a:avLst/>
          </a:prstGeom>
          <a:solidFill>
            <a:srgbClr val="1A237E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063240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</a:rPr>
              <a:t>🔢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88720" y="308152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37E"/>
                </a:solidFill>
              </a:rPr>
              <a:t>Confusion Matrix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1188720" y="3429000"/>
            <a:ext cx="1371600" cy="219456"/>
          </a:xfrm>
          <a:prstGeom prst="rect">
            <a:avLst/>
          </a:prstGeom>
          <a:solidFill>
            <a:srgbClr val="00897B">
              <a:alpha val="2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1188720" y="343814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897B"/>
                </a:solidFill>
              </a:rPr>
              <a:t>Class-by-class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57200" y="3794760"/>
            <a:ext cx="3794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46E7A"/>
                </a:solidFill>
              </a:rPr>
              <a:t>Class-by-class prediction breakdown — reveals which sentiments the model confuses most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709160" y="2880360"/>
            <a:ext cx="416052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892040" y="3044952"/>
            <a:ext cx="594360" cy="594360"/>
          </a:xfrm>
          <a:prstGeom prst="ellipse">
            <a:avLst/>
          </a:prstGeom>
          <a:solidFill>
            <a:srgbClr val="1A237E"/>
          </a:solidFill>
          <a:ln/>
        </p:spPr>
      </p:sp>
      <p:sp>
        <p:nvSpPr>
          <p:cNvPr id="29" name="Text 27"/>
          <p:cNvSpPr/>
          <p:nvPr/>
        </p:nvSpPr>
        <p:spPr>
          <a:xfrm>
            <a:off x="4892040" y="3063240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</a:rPr>
              <a:t>📊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623560" y="308152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37E"/>
                </a:solidFill>
              </a:rPr>
              <a:t>JSON Validity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5623560" y="3429000"/>
            <a:ext cx="1371600" cy="219456"/>
          </a:xfrm>
          <a:prstGeom prst="rect">
            <a:avLst/>
          </a:prstGeom>
          <a:solidFill>
            <a:srgbClr val="00897B">
              <a:alpha val="2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5623560" y="343814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897B"/>
                </a:solidFill>
              </a:rPr>
              <a:t>% parseable JSON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892040" y="3794760"/>
            <a:ext cx="3794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46E7A"/>
                </a:solidFill>
              </a:rPr>
              <a:t>% of model outputs that are valid, parseable JSON — measures structured output reliability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274320" y="4709160"/>
            <a:ext cx="859536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57200" y="4736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</a:rPr>
              <a:t>Evaluation Protocol: Zero-shot base model → 3-epoch fine-tuned model → Per-class breakdown → Human spot-check on 50 samples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897B"/>
                </a:solidFill>
              </a:rPr>
              <a:t>06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097280" y="73152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4DB6AC"/>
                </a:solidFill>
              </a:rPr>
              <a:t>PROJECT RESULTS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7280" y="47548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Base Model vs. LoRA Fine-Tuned Model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27432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107899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46E7A"/>
                </a:solidFill>
              </a:rPr>
              <a:t>Accuracy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37160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62828"/>
                </a:solidFill>
              </a:rPr>
              <a:t>18%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4300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46E7A"/>
                </a:solidFill>
              </a:rPr>
              <a:t>→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600200" y="137160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7D32"/>
                </a:solidFill>
              </a:rPr>
              <a:t>76%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377440" y="1389888"/>
            <a:ext cx="548640" cy="384048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12" name="Text 10"/>
          <p:cNvSpPr/>
          <p:nvPr/>
        </p:nvSpPr>
        <p:spPr>
          <a:xfrm>
            <a:off x="2377440" y="1389888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+58%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27832" y="1005840"/>
            <a:ext cx="27432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364992" y="107899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46E7A"/>
                </a:solidFill>
              </a:rPr>
              <a:t>F1-Score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64992" y="137160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62828"/>
                </a:solidFill>
              </a:rPr>
              <a:t>10%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096512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46E7A"/>
                </a:solidFill>
              </a:rPr>
              <a:t>→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553712" y="137160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7D32"/>
                </a:solidFill>
              </a:rPr>
              <a:t>64%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330952" y="1389888"/>
            <a:ext cx="548640" cy="384048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19" name="Text 17"/>
          <p:cNvSpPr/>
          <p:nvPr/>
        </p:nvSpPr>
        <p:spPr>
          <a:xfrm>
            <a:off x="5330952" y="1389888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+54%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81344" y="1005840"/>
            <a:ext cx="27432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318504" y="107899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46E7A"/>
                </a:solidFill>
              </a:rPr>
              <a:t>JSON Validity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18504" y="137160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62828"/>
                </a:solidFill>
              </a:rPr>
              <a:t>2%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050024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46E7A"/>
                </a:solidFill>
              </a:rPr>
              <a:t>→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507224" y="137160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7D32"/>
                </a:solidFill>
              </a:rPr>
              <a:t>100%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8284464" y="1389888"/>
            <a:ext cx="548640" cy="384048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26" name="Text 24"/>
          <p:cNvSpPr/>
          <p:nvPr/>
        </p:nvSpPr>
        <p:spPr>
          <a:xfrm>
            <a:off x="8284464" y="1389888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+98%</a:t>
            </a:r>
            <a:endParaRPr lang="en-US" sz="1100" dirty="0"/>
          </a:p>
        </p:txBody>
      </p:sp>
      <p:graphicFrame>
        <p:nvGraphicFramePr>
          <p:cNvPr id="27" name="Chart 0"/>
          <p:cNvGraphicFramePr/>
          <p:nvPr/>
        </p:nvGraphicFramePr>
        <p:xfrm>
          <a:off x="274320" y="2240280"/>
          <a:ext cx="5212080" cy="2606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8" name="Shape 25"/>
          <p:cNvSpPr/>
          <p:nvPr/>
        </p:nvSpPr>
        <p:spPr>
          <a:xfrm>
            <a:off x="5669280" y="2240280"/>
            <a:ext cx="3200400" cy="26060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5852160" y="23317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7E"/>
                </a:solidFill>
              </a:rPr>
              <a:t>Per-Class F1-Score</a:t>
            </a:r>
            <a:endParaRPr lang="en-US" sz="12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06440" y="2724912"/>
          <a:ext cx="2926080" cy="1691640"/>
        </p:xfrm>
        <a:graphic>
          <a:graphicData uri="http://schemas.openxmlformats.org/drawingml/2006/table">
            <a:tbl>
              <a:tblPr/>
              <a:tblGrid>
                <a:gridCol w="975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5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5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Sentiment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Base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LoRA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Positive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C62828"/>
                          </a:solidFill>
                        </a:rPr>
                        <a:t>0.036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7D32"/>
                          </a:solidFill>
                        </a:rPr>
                        <a:t>0.857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Negative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C62828"/>
                          </a:solidFill>
                        </a:rPr>
                        <a:t>0.084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7D32"/>
                          </a:solidFill>
                        </a:rPr>
                        <a:t>0.811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Neutral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E65100"/>
                          </a:solidFill>
                        </a:rPr>
                        <a:t>0.281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7D32"/>
                          </a:solidFill>
                        </a:rPr>
                        <a:t>0.507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Conflict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C62828"/>
                          </a:solidFill>
                        </a:rPr>
                        <a:t>0.000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E65100"/>
                          </a:solidFill>
                        </a:rPr>
                        <a:t>0.381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897B"/>
                </a:solidFill>
              </a:rPr>
              <a:t>07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097280" y="73152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4DB6AC"/>
                </a:solidFill>
              </a:rPr>
              <a:t>STRUCTURED OUTPUT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7280" y="47548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Reliable, task-specific JSON outputs from the fine-tuned model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85953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115568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897B"/>
                </a:solidFill>
              </a:rPr>
              <a:t>INPUT: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" y="1097280"/>
            <a:ext cx="7543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i="1" dirty="0">
                <a:solidFill>
                  <a:srgbClr val="546E7A"/>
                </a:solidFill>
              </a:rPr>
              <a:t>"The laptop's battery life is outstanding and the keyboard feels great, but the display has poor brightness and the price seems overpriced for what you get."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755648"/>
            <a:ext cx="4160520" cy="3090672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755648"/>
            <a:ext cx="4160520" cy="301752"/>
          </a:xfrm>
          <a:prstGeom prst="rect">
            <a:avLst/>
          </a:prstGeom>
          <a:solidFill>
            <a:srgbClr val="C62828">
              <a:alpha val="2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420624" y="178308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62828"/>
                </a:solidFill>
              </a:rPr>
              <a:t>✗  Base Model  (Zero-shot, Unstructured)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20624" y="2130552"/>
            <a:ext cx="3840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2000"/>
              </a:lnSpc>
              <a:buNone/>
            </a:pPr>
            <a:r>
              <a:rPr lang="en-US" sz="1000" dirty="0">
                <a:solidFill>
                  <a:srgbClr val="5C63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"The review talks about battery</a:t>
            </a:r>
            <a:endParaRPr lang="en-US" sz="1000" dirty="0"/>
          </a:p>
          <a:p>
            <a:pPr marL="0" indent="0">
              <a:lnSpc>
                <a:spcPct val="142000"/>
              </a:lnSpc>
              <a:buNone/>
            </a:pPr>
            <a:r>
              <a:rPr lang="en-US" sz="1000" dirty="0">
                <a:solidFill>
                  <a:srgbClr val="5C63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life which is good. The keyboard</a:t>
            </a:r>
            <a:endParaRPr lang="en-US" sz="1000" dirty="0"/>
          </a:p>
          <a:p>
            <a:pPr marL="0" indent="0">
              <a:lnSpc>
                <a:spcPct val="142000"/>
              </a:lnSpc>
              <a:buNone/>
            </a:pPr>
            <a:r>
              <a:rPr lang="en-US" sz="1000" dirty="0">
                <a:solidFill>
                  <a:srgbClr val="5C63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 mentioned positively. Display</a:t>
            </a:r>
            <a:endParaRPr lang="en-US" sz="1000" dirty="0"/>
          </a:p>
          <a:p>
            <a:pPr marL="0" indent="0">
              <a:lnSpc>
                <a:spcPct val="142000"/>
              </a:lnSpc>
              <a:buNone/>
            </a:pPr>
            <a:r>
              <a:rPr lang="en-US" sz="1000" dirty="0">
                <a:solidFill>
                  <a:srgbClr val="5C63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brightness is a negative aspect.</a:t>
            </a:r>
            <a:endParaRPr lang="en-US" sz="1000" dirty="0"/>
          </a:p>
          <a:p>
            <a:pPr marL="0" indent="0">
              <a:lnSpc>
                <a:spcPct val="142000"/>
              </a:lnSpc>
              <a:buNone/>
            </a:pPr>
            <a:r>
              <a:rPr lang="en-US" sz="1000" dirty="0">
                <a:solidFill>
                  <a:srgbClr val="5C63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price is also negative.</a:t>
            </a:r>
            <a:endParaRPr lang="en-US" sz="1000" dirty="0"/>
          </a:p>
          <a:p>
            <a:pPr marL="0" indent="0">
              <a:lnSpc>
                <a:spcPct val="142000"/>
              </a:lnSpc>
              <a:buNone/>
            </a:pPr>
            <a:r>
              <a:rPr lang="en-US" sz="1000" dirty="0">
                <a:solidFill>
                  <a:srgbClr val="5C63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Overall the review seems mixed."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20624" y="453542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62828"/>
                </a:solidFill>
              </a:rPr>
              <a:t>⚠  No structure · No JSON · Aspects not isolated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63440" y="1755648"/>
            <a:ext cx="4206240" cy="3090672"/>
          </a:xfrm>
          <a:prstGeom prst="rect">
            <a:avLst/>
          </a:prstGeom>
          <a:solidFill>
            <a:srgbClr val="1B283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63440" y="1755648"/>
            <a:ext cx="4206240" cy="301752"/>
          </a:xfrm>
          <a:prstGeom prst="rect">
            <a:avLst/>
          </a:prstGeom>
          <a:solidFill>
            <a:srgbClr val="2E7D32">
              <a:alpha val="35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4800600" y="178308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A8F0C6"/>
                </a:solidFill>
              </a:rPr>
              <a:t>✓  LoRA Fine-Tuned  (Structured JSON)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754880" y="2103120"/>
            <a:ext cx="40233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"aspects": [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{ "term": "battery life",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"sentiment": "positive" },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{ "term": "keyboard",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"sentiment": "positive" },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{ "term": "display brightness",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"sentiment": "negative" },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{ "term": "price",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"sentiment": "negative" }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],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"overall_sentiment": "mixed"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800600" y="4544568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E7B7"/>
                </a:solidFill>
              </a:rPr>
              <a:t>✓  Structured · Parseable · Aspect-aware · 99.78% JSON validity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solidFill>
            <a:srgbClr val="00897B">
              <a:alpha val="18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4910328"/>
            <a:ext cx="83210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37E"/>
                </a:solidFill>
              </a:rPr>
              <a:t>Fine-tuned model produces valid JSON on 99.78% of test samples — enabling direct integration with downstream analytics pipelines.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3200400"/>
            <a:ext cx="3657600" cy="3657600"/>
          </a:xfrm>
          <a:prstGeom prst="ellipse">
            <a:avLst/>
          </a:prstGeom>
          <a:solidFill>
            <a:srgbClr val="1A237E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4DB6AC"/>
                </a:solidFill>
              </a:rPr>
              <a:t>CONCLUSION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896112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Key Takeaways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897B"/>
                </a:solidFill>
              </a:rPr>
              <a:t>01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051560" y="1673352"/>
            <a:ext cx="45720" cy="530352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1618488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LoRA makes fine-tuning accessible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88720" y="1929384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A4AE"/>
                </a:solidFill>
              </a:rPr>
              <a:t>Only 0.13% of parameters trained — achieved on Kaggle T4 GPU in under 3 hours, no expensive hardware needed.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37744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897B"/>
                </a:solidFill>
              </a:rPr>
              <a:t>02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1051560" y="2450592"/>
            <a:ext cx="45720" cy="530352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12" name="Text 10"/>
          <p:cNvSpPr/>
          <p:nvPr/>
        </p:nvSpPr>
        <p:spPr>
          <a:xfrm>
            <a:off x="1188720" y="2395728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Dramatic performance improvement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88720" y="2706624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A4AE"/>
                </a:solidFill>
              </a:rPr>
              <a:t>Accuracy 18% → 76% (+58pp) and F1-Score 10% → 64% (+54pp) with just 3 epochs of domain-specific training.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315468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897B"/>
                </a:solidFill>
              </a:rPr>
              <a:t>03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1051560" y="3227832"/>
            <a:ext cx="45720" cy="530352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16" name="Text 14"/>
          <p:cNvSpPr/>
          <p:nvPr/>
        </p:nvSpPr>
        <p:spPr>
          <a:xfrm>
            <a:off x="1188720" y="3172968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Near-perfect structured output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88720" y="3483864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A4AE"/>
                </a:solidFill>
              </a:rPr>
              <a:t>JSON Validity jumped from 2% → 99.78% — the fine-tuned model reliably produces parseable output every time.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393192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897B"/>
                </a:solidFill>
              </a:rPr>
              <a:t>04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1051560" y="4005072"/>
            <a:ext cx="45720" cy="530352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20" name="Text 18"/>
          <p:cNvSpPr/>
          <p:nvPr/>
        </p:nvSpPr>
        <p:spPr>
          <a:xfrm>
            <a:off x="1188720" y="3950208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Aspect-level granularity matters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88720" y="4261104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A4AE"/>
                </a:solidFill>
              </a:rPr>
              <a:t>Base model predicted 'neutral' for almost everything; LoRA learned Positive (0.857) and Negative (0.811) F1 with real nuance.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0897B">
              <a:alpha val="3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274320" y="4828032"/>
            <a:ext cx="8595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Thank You  ·  Questions Welcome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1066</Words>
  <Application>Microsoft Office PowerPoint</Application>
  <PresentationFormat>On-screen Show (16:9)</PresentationFormat>
  <Paragraphs>249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Opinion Mining from Customer Reviews</dc:title>
  <dc:subject>PptxGenJS Presentation</dc:subject>
  <dc:creator>Course Project</dc:creator>
  <cp:lastModifiedBy>Saif Mamdouh</cp:lastModifiedBy>
  <cp:revision>2</cp:revision>
  <dcterms:created xsi:type="dcterms:W3CDTF">2026-04-19T21:03:31Z</dcterms:created>
  <dcterms:modified xsi:type="dcterms:W3CDTF">2026-04-19T21:09:49Z</dcterms:modified>
</cp:coreProperties>
</file>